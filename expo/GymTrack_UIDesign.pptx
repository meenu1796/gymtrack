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548640"/>
            <a:ext cx="1371600" cy="1371600"/>
          </a:xfrm>
          <a:prstGeom prst="hexagon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86200" y="777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0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GymTrack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Rubyx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com.rubyx.gymtrack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3657600"/>
            <a:ext cx="2743200" cy="18288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840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 Document  ·  SDLC Phase 3  ·  June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425196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42885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023360" y="425196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38C49A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42885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394960" y="425196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A07AE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42885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+ Android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PROCESS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7-phase SDLC before writing a single line of app 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161B2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SRS document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definition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" y="25877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423160" y="150876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161B28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423160" y="25877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161B2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7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0" y="25877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07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720840" y="150876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161B28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2084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Router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build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20840" y="25877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4320" y="30175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161B28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337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611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testing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checklist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4096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423160" y="30175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161B28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3337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14600" y="3611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 Build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Store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423160" y="4096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572000" y="30175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161B28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3337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3611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planning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feedback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572000" y="40965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Visual Language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tokens used across every screen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0A0D14"/>
          </a:solidFill>
          <a:ln w="3810">
            <a:solidFill>
              <a:srgbClr val="1A2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2996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#0A0D14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463040" y="150876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111520"/>
          </a:solidFill>
          <a:ln w="3810">
            <a:solidFill>
              <a:srgbClr val="1A2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02996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463040" y="2176272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#111520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2560320" y="150876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4A9EE8"/>
          </a:solidFill>
          <a:ln w="3810">
            <a:solidFill>
              <a:srgbClr val="1A2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02996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Blue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560320" y="2176272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#4A9EE8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657600" y="150876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38C49A"/>
          </a:solidFill>
          <a:ln w="3810">
            <a:solidFill>
              <a:srgbClr val="1A2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2996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657600" y="2176272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#38C49A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E05C5C"/>
          </a:solidFill>
          <a:ln w="3810">
            <a:solidFill>
              <a:srgbClr val="1A2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5292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65760" y="2999232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#E05C5C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1463040" y="233172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E8C040"/>
          </a:solidFill>
          <a:ln w="3810">
            <a:solidFill>
              <a:srgbClr val="1A2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285292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463040" y="2999232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#E8C040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2560320" y="233172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A07AE8"/>
          </a:solidFill>
          <a:ln w="3810">
            <a:solidFill>
              <a:srgbClr val="1A2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85292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560320" y="2999232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#A07AE8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3657600" y="233172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52C07A"/>
          </a:solidFill>
          <a:ln w="3810">
            <a:solidFill>
              <a:srgbClr val="1A2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2852928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657600" y="2999232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#52C07A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54880" y="1280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1508760"/>
            <a:ext cx="4023360" cy="347472"/>
          </a:xfrm>
          <a:prstGeom prst="roundRect">
            <a:avLst>
              <a:gd name="adj" fmla="val 26316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5727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17920" y="15727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48px Bold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1892808"/>
            <a:ext cx="4023360" cy="347472"/>
          </a:xfrm>
          <a:prstGeom prst="roundRect">
            <a:avLst>
              <a:gd name="adj" fmla="val 26316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95681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17920" y="19568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28px Bold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2276856"/>
            <a:ext cx="4023360" cy="347472"/>
          </a:xfrm>
          <a:prstGeom prst="roundRect">
            <a:avLst>
              <a:gd name="adj" fmla="val 26316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3408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Subhead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17920" y="23408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18px SemiBold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2660904"/>
            <a:ext cx="4023360" cy="347472"/>
          </a:xfrm>
          <a:prstGeom prst="roundRect">
            <a:avLst>
              <a:gd name="adj" fmla="val 26316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7249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17920" y="27249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14px Regular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3044952"/>
            <a:ext cx="4023360" cy="347472"/>
          </a:xfrm>
          <a:prstGeom prst="roundRect">
            <a:avLst>
              <a:gd name="adj" fmla="val 26316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108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17920" y="3108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11px Regular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54880" y="3429000"/>
            <a:ext cx="4023360" cy="347472"/>
          </a:xfrm>
          <a:prstGeom prst="roundRect">
            <a:avLst>
              <a:gd name="adj" fmla="val 26316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4930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17920" y="34930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9px Bold + tracking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46634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  8px grid · Radius 12–16px · Min touch 44×44pt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Flow &amp; Navigation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users move through the app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0" y="118872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161B28"/>
          </a:solidFill>
          <a:ln w="19050">
            <a:solidFill>
              <a:srgbClr val="4A9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0" y="219456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161B28"/>
          </a:solidFill>
          <a:ln w="19050">
            <a:solidFill>
              <a:srgbClr val="38C4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97280" y="329184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161B28"/>
          </a:solidFill>
          <a:ln w="19050">
            <a:solidFill>
              <a:srgbClr val="A07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83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Map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(Avatar)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0" y="329184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161B28"/>
          </a:solidFill>
          <a:ln w="19050">
            <a:solidFill>
              <a:srgbClr val="E8C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383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97280" y="438912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161B28"/>
          </a:solidFill>
          <a:ln w="19050">
            <a:solidFill>
              <a:srgbClr val="52C0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480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438912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161B28"/>
          </a:solidFill>
          <a:ln w="19050">
            <a:solidFill>
              <a:srgbClr val="E0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480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26280" y="1828800"/>
            <a:ext cx="0" cy="365760"/>
          </a:xfrm>
          <a:prstGeom prst="line">
            <a:avLst/>
          </a:prstGeom>
          <a:noFill/>
          <a:ln w="12700">
            <a:solidFill>
              <a:srgbClr val="1A2030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3657600" y="2514600"/>
            <a:ext cx="-822960" cy="777240"/>
          </a:xfrm>
          <a:prstGeom prst="line">
            <a:avLst/>
          </a:prstGeom>
          <a:noFill/>
          <a:ln w="12700">
            <a:solidFill>
              <a:srgbClr val="1A2030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5394960" y="2514600"/>
            <a:ext cx="822960" cy="777240"/>
          </a:xfrm>
          <a:prstGeom prst="line">
            <a:avLst/>
          </a:prstGeom>
          <a:noFill/>
          <a:ln w="12700">
            <a:solidFill>
              <a:srgbClr val="1A2030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1920240" y="3931920"/>
            <a:ext cx="0" cy="457200"/>
          </a:xfrm>
          <a:prstGeom prst="line">
            <a:avLst/>
          </a:prstGeom>
          <a:noFill/>
          <a:ln w="12700">
            <a:solidFill>
              <a:srgbClr val="1A2030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7040880" y="3931920"/>
            <a:ext cx="0" cy="457200"/>
          </a:xfrm>
          <a:prstGeom prst="line">
            <a:avLst/>
          </a:prstGeom>
          <a:noFill/>
          <a:ln w="12700">
            <a:solidFill>
              <a:srgbClr val="1A2030"/>
            </a:solidFill>
            <a:prstDash val="sysDot"/>
          </a:ln>
        </p:spPr>
      </p:sp>
      <p:sp>
        <p:nvSpPr>
          <p:cNvPr id="22" name="Text 20"/>
          <p:cNvSpPr/>
          <p:nvPr/>
        </p:nvSpPr>
        <p:spPr>
          <a:xfrm>
            <a:off x="4160520" y="19202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2.5s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743200" y="28346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Body Map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212080" y="28346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Plans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2011680" y="41148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muscle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7132320" y="41148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day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 Screen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impression — 2.5 second animated brand moment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926080" cy="3657600"/>
          </a:xfrm>
          <a:prstGeom prst="roundRect">
            <a:avLst>
              <a:gd name="adj" fmla="val 3125"/>
            </a:avLst>
          </a:prstGeom>
          <a:solidFill>
            <a:srgbClr val="161B28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BAR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914400" cy="914400"/>
          </a:xfrm>
          <a:prstGeom prst="hexagon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48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GymTrack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RUBYX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17320" y="4480560"/>
            <a:ext cx="91440" cy="91440"/>
          </a:xfrm>
          <a:prstGeom prst="ellipse">
            <a:avLst/>
          </a:prstGeom>
          <a:solidFill>
            <a:srgbClr val="2A3350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4480560"/>
            <a:ext cx="91440" cy="91440"/>
          </a:xfrm>
          <a:prstGeom prst="ellipse">
            <a:avLst/>
          </a:prstGeom>
          <a:solidFill>
            <a:srgbClr val="4A9EE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19656" y="4480560"/>
            <a:ext cx="91440" cy="91440"/>
          </a:xfrm>
          <a:prstGeom prst="ellipse">
            <a:avLst/>
          </a:prstGeom>
          <a:solidFill>
            <a:srgbClr val="2A3350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737360"/>
            <a:ext cx="109728" cy="0"/>
          </a:xfrm>
          <a:prstGeom prst="line">
            <a:avLst/>
          </a:prstGeom>
          <a:noFill/>
          <a:ln w="25400">
            <a:solidFill>
              <a:srgbClr val="4A9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Logo: hexagon + G lettermark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37560" y="2377440"/>
            <a:ext cx="109728" cy="0"/>
          </a:xfrm>
          <a:prstGeom prst="line">
            <a:avLst/>
          </a:prstGeom>
          <a:noFill/>
          <a:ln w="25400">
            <a:solidFill>
              <a:srgbClr val="38C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286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Fade-in + scale animation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1.5s duration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37560" y="3108960"/>
            <a:ext cx="109728" cy="0"/>
          </a:xfrm>
          <a:prstGeom prst="line">
            <a:avLst/>
          </a:prstGeom>
          <a:noFill/>
          <a:ln w="25400">
            <a:solidFill>
              <a:srgbClr val="E8C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017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"GymTrack" — 48px Bold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"by RUBYX" — tracking 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37560" y="3840480"/>
            <a:ext cx="109728" cy="0"/>
          </a:xfrm>
          <a:prstGeom prst="line">
            <a:avLst/>
          </a:prstGeom>
          <a:noFill/>
          <a:ln w="25400">
            <a:solidFill>
              <a:srgbClr val="A07A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loading dots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 dots, pulse sequence)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37560" y="4434840"/>
            <a:ext cx="109728" cy="0"/>
          </a:xfrm>
          <a:prstGeom prst="line">
            <a:avLst/>
          </a:prstGeom>
          <a:noFill/>
          <a:ln w="25400">
            <a:solidFill>
              <a:srgbClr val="4A55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343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Auto-navigate to Home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2.5 seconds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hub — extensible card grid for future modules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926080" cy="3657600"/>
          </a:xfrm>
          <a:prstGeom prst="roundRect">
            <a:avLst>
              <a:gd name="adj" fmla="val 3125"/>
            </a:avLst>
          </a:prstGeom>
          <a:solidFill>
            <a:srgbClr val="161B28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  ●●●●○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926080" cy="548640"/>
          </a:xfrm>
          <a:prstGeom prst="rect">
            <a:avLst/>
          </a:prstGeom>
          <a:solidFill>
            <a:srgbClr val="111520"/>
          </a:solidFill>
          <a:ln w="12700">
            <a:solidFill>
              <a:srgbClr val="1115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 💪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GymTrack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161B2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39696"/>
            <a:ext cx="201168" cy="201168"/>
          </a:xfrm>
          <a:prstGeom prst="ellipse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5915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Map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254203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muscles →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exercises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920240" y="2084832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161B28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2139696"/>
            <a:ext cx="201168" cy="201168"/>
          </a:xfrm>
          <a:prstGeom prst="ellipse">
            <a:avLst/>
          </a:prstGeom>
          <a:solidFill>
            <a:srgbClr val="38C49A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235915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Plans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965960" y="254203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/ Pull / Legs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programs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161B28"/>
          </a:solidFill>
          <a:ln w="3810">
            <a:solidFill>
              <a:srgbClr val="2A33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236976"/>
            <a:ext cx="201168" cy="201168"/>
          </a:xfrm>
          <a:prstGeom prst="ellipse">
            <a:avLst/>
          </a:prstGeom>
          <a:solidFill>
            <a:srgbClr val="2A3350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5643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2920" y="363931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02920" y="3941064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SOON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1920240" y="3182112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161B28"/>
          </a:solidFill>
          <a:ln w="3810">
            <a:solidFill>
              <a:srgbClr val="2A33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65960" y="3236976"/>
            <a:ext cx="201168" cy="201168"/>
          </a:xfrm>
          <a:prstGeom prst="ellipse">
            <a:avLst/>
          </a:prstGeom>
          <a:solidFill>
            <a:srgbClr val="2A3350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345643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65960" y="363931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965960" y="3941064"/>
            <a:ext cx="457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SOON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3337560" y="1508760"/>
            <a:ext cx="109728" cy="0"/>
          </a:xfrm>
          <a:prstGeom prst="line">
            <a:avLst/>
          </a:prstGeom>
          <a:noFill/>
          <a:ln w="25400">
            <a:solidFill>
              <a:srgbClr val="E8C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Greeting header 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in v2.0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37560" y="2194560"/>
            <a:ext cx="109728" cy="0"/>
          </a:xfrm>
          <a:prstGeom prst="line">
            <a:avLst/>
          </a:prstGeom>
          <a:noFill/>
          <a:ln w="25400">
            <a:solidFill>
              <a:srgbClr val="4A9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103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Map card — primary CTA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border to draw attention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37560" y="2926080"/>
            <a:ext cx="109728" cy="0"/>
          </a:xfrm>
          <a:prstGeom prst="line">
            <a:avLst/>
          </a:prstGeom>
          <a:noFill/>
          <a:ln w="25400">
            <a:solidFill>
              <a:srgbClr val="38C4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Plans card 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CTA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37560" y="3611880"/>
            <a:ext cx="109728" cy="0"/>
          </a:xfrm>
          <a:prstGeom prst="line">
            <a:avLst/>
          </a:prstGeom>
          <a:noFill/>
          <a:ln w="25400">
            <a:solidFill>
              <a:srgbClr val="2A33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3520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cards show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 to users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Map — Avatar Screen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interactive muscle map with gender toggle and flip animation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926080" cy="3657600"/>
          </a:xfrm>
          <a:prstGeom prst="roundRect">
            <a:avLst>
              <a:gd name="adj" fmla="val 3125"/>
            </a:avLst>
          </a:prstGeom>
          <a:solidFill>
            <a:srgbClr val="161B28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926080" cy="457200"/>
          </a:xfrm>
          <a:prstGeom prst="rect">
            <a:avLst/>
          </a:prstGeom>
          <a:solidFill>
            <a:srgbClr val="111520"/>
          </a:solidFill>
          <a:ln w="12700">
            <a:solidFill>
              <a:srgbClr val="11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3075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Map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261872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161B28"/>
          </a:solidFill>
          <a:ln w="12700">
            <a:solidFill>
              <a:srgbClr val="E06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26187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♀  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69164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0A0D14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08760" y="1755648"/>
            <a:ext cx="548640" cy="594360"/>
          </a:xfrm>
          <a:prstGeom prst="ellipse">
            <a:avLst/>
          </a:prstGeom>
          <a:solidFill>
            <a:srgbClr val="1E2330"/>
          </a:solidFill>
          <a:ln w="6350">
            <a:solidFill>
              <a:srgbClr val="2A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304288"/>
            <a:ext cx="822960" cy="1097280"/>
          </a:xfrm>
          <a:prstGeom prst="roundRect">
            <a:avLst>
              <a:gd name="adj" fmla="val 11111"/>
            </a:avLst>
          </a:prstGeom>
          <a:solidFill>
            <a:srgbClr val="1E2330"/>
          </a:solidFill>
          <a:ln w="6350">
            <a:solidFill>
              <a:srgbClr val="2A3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2331720"/>
            <a:ext cx="274320" cy="914400"/>
          </a:xfrm>
          <a:prstGeom prst="roundRect">
            <a:avLst>
              <a:gd name="adj" fmla="val 26667"/>
            </a:avLst>
          </a:prstGeom>
          <a:solidFill>
            <a:srgbClr val="E8C040"/>
          </a:solidFill>
          <a:ln w="12700">
            <a:solidFill>
              <a:srgbClr val="E8C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2331720"/>
            <a:ext cx="274320" cy="914400"/>
          </a:xfrm>
          <a:prstGeom prst="roundRect">
            <a:avLst>
              <a:gd name="adj" fmla="val 26667"/>
            </a:avLst>
          </a:prstGeom>
          <a:solidFill>
            <a:srgbClr val="E8C040"/>
          </a:solidFill>
          <a:ln w="12700">
            <a:solidFill>
              <a:srgbClr val="E8C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17320" y="2331720"/>
            <a:ext cx="347472" cy="320040"/>
          </a:xfrm>
          <a:prstGeom prst="roundRect">
            <a:avLst>
              <a:gd name="adj" fmla="val 14286"/>
            </a:avLst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01368" y="2331720"/>
            <a:ext cx="347472" cy="320040"/>
          </a:xfrm>
          <a:prstGeom prst="roundRect">
            <a:avLst>
              <a:gd name="adj" fmla="val 14286"/>
            </a:avLst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8760" y="2670048"/>
            <a:ext cx="548640" cy="594360"/>
          </a:xfrm>
          <a:prstGeom prst="roundRect">
            <a:avLst>
              <a:gd name="adj" fmla="val 8333"/>
            </a:avLst>
          </a:prstGeom>
          <a:solidFill>
            <a:srgbClr val="38C49A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89888" y="3429000"/>
            <a:ext cx="338328" cy="594360"/>
          </a:xfrm>
          <a:prstGeom prst="roundRect">
            <a:avLst>
              <a:gd name="adj" fmla="val 21622"/>
            </a:avLst>
          </a:prstGeom>
          <a:solidFill>
            <a:srgbClr val="52C07A"/>
          </a:solidFill>
          <a:ln w="12700">
            <a:solidFill>
              <a:srgbClr val="52C0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37944" y="3429000"/>
            <a:ext cx="338328" cy="594360"/>
          </a:xfrm>
          <a:prstGeom prst="roundRect">
            <a:avLst>
              <a:gd name="adj" fmla="val 21622"/>
            </a:avLst>
          </a:prstGeom>
          <a:solidFill>
            <a:srgbClr val="52C07A"/>
          </a:solidFill>
          <a:ln w="12700">
            <a:solidFill>
              <a:srgbClr val="52C0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2487168"/>
            <a:ext cx="502920" cy="0"/>
          </a:xfrm>
          <a:prstGeom prst="line">
            <a:avLst/>
          </a:prstGeom>
          <a:noFill/>
          <a:ln w="8890">
            <a:solidFill>
              <a:srgbClr val="E8C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4231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E8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Biceps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566928" y="2834640"/>
            <a:ext cx="502920" cy="0"/>
          </a:xfrm>
          <a:prstGeom prst="line">
            <a:avLst/>
          </a:prstGeom>
          <a:noFill/>
          <a:ln w="8890">
            <a:solidFill>
              <a:srgbClr val="38C4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7706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38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566928" y="3657600"/>
            <a:ext cx="502920" cy="0"/>
          </a:xfrm>
          <a:prstGeom prst="line">
            <a:avLst/>
          </a:prstGeom>
          <a:noFill/>
          <a:ln w="8890">
            <a:solidFill>
              <a:srgbClr val="52C0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9359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52C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Quads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2542032" y="2487168"/>
            <a:ext cx="548640" cy="0"/>
          </a:xfrm>
          <a:prstGeom prst="line">
            <a:avLst/>
          </a:prstGeom>
          <a:noFill/>
          <a:ln w="8890">
            <a:solidFill>
              <a:srgbClr val="4A9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2423160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Traps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2542032" y="2633472"/>
            <a:ext cx="548640" cy="0"/>
          </a:xfrm>
          <a:prstGeom prst="line">
            <a:avLst/>
          </a:prstGeom>
          <a:noFill/>
          <a:ln w="8890">
            <a:solidFill>
              <a:srgbClr val="E05C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2569464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E0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1280160" y="4224528"/>
            <a:ext cx="1005840" cy="292608"/>
          </a:xfrm>
          <a:prstGeom prst="roundRect">
            <a:avLst>
              <a:gd name="adj" fmla="val 31250"/>
            </a:avLst>
          </a:prstGeom>
          <a:solidFill>
            <a:srgbClr val="161B28"/>
          </a:solidFill>
          <a:ln w="6350">
            <a:solidFill>
              <a:srgbClr val="2A33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4224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ROTATE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520440" y="1554480"/>
            <a:ext cx="109728" cy="0"/>
          </a:xfrm>
          <a:prstGeom prst="line">
            <a:avLst/>
          </a:prstGeom>
          <a:noFill/>
          <a:ln w="25400">
            <a:solidFill>
              <a:srgbClr val="4A9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Top-left: Home button (←)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navigates back to Dashboard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520440" y="2148840"/>
            <a:ext cx="109728" cy="0"/>
          </a:xfrm>
          <a:prstGeom prst="line">
            <a:avLst/>
          </a:prstGeom>
          <a:noFill/>
          <a:ln w="25400">
            <a:solidFill>
              <a:srgbClr val="E060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Top-right: Gender toggle ♀/♂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= female avatar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520440" y="2743200"/>
            <a:ext cx="109728" cy="0"/>
          </a:xfrm>
          <a:prstGeom prst="line">
            <a:avLst/>
          </a:prstGeom>
          <a:noFill/>
          <a:ln w="25400">
            <a:solidFill>
              <a:srgbClr val="E8C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2651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Colored muscle regions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tappable — each triggers exercise list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520440" y="3337560"/>
            <a:ext cx="109728" cy="0"/>
          </a:xfrm>
          <a:prstGeom prst="line">
            <a:avLst/>
          </a:prstGeom>
          <a:noFill/>
          <a:ln w="25400">
            <a:solidFill>
              <a:srgbClr val="38C4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3246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 lines with color-matched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on both sides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520440" y="3931920"/>
            <a:ext cx="109728" cy="0"/>
          </a:xfrm>
          <a:prstGeom prst="line">
            <a:avLst/>
          </a:prstGeom>
          <a:noFill/>
          <a:ln w="25400">
            <a:solidFill>
              <a:srgbClr val="A07A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3840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btn OR tap avatar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3D flip animation (180°)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 SPEC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Avatar Flip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Card-flip perspective animation — 60fps on UI thread via Reanimated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61B2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1280160" cy="2194560"/>
          </a:xfrm>
          <a:prstGeom prst="roundRect">
            <a:avLst>
              <a:gd name="adj" fmla="val 8571"/>
            </a:avLst>
          </a:prstGeom>
          <a:solidFill>
            <a:srgbClr val="0A0D14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664208"/>
            <a:ext cx="457200" cy="457200"/>
          </a:xfrm>
          <a:prstGeom prst="ellipse">
            <a:avLst/>
          </a:prstGeom>
          <a:solidFill>
            <a:srgbClr val="1E2330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084832"/>
            <a:ext cx="640080" cy="914400"/>
          </a:xfrm>
          <a:prstGeom prst="roundRect">
            <a:avLst>
              <a:gd name="adj" fmla="val 11429"/>
            </a:avLst>
          </a:prstGeom>
          <a:solidFill>
            <a:srgbClr val="1E2330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1214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1214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3017520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53312" y="3017520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VIEW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(default)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43251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4828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of body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19456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60320" y="13716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61B28"/>
          </a:solidFill>
          <a:ln w="12700">
            <a:solidFill>
              <a:srgbClr val="E8C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1554480"/>
            <a:ext cx="1280160" cy="2194560"/>
          </a:xfrm>
          <a:prstGeom prst="roundRect">
            <a:avLst>
              <a:gd name="adj" fmla="val 8571"/>
            </a:avLst>
          </a:prstGeom>
          <a:solidFill>
            <a:srgbClr val="0A0D14"/>
          </a:solidFill>
          <a:ln w="12700">
            <a:solidFill>
              <a:srgbClr val="E8C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1664208"/>
            <a:ext cx="182880" cy="2103120"/>
          </a:xfrm>
          <a:prstGeom prst="roundRect">
            <a:avLst>
              <a:gd name="adj" fmla="val 25000"/>
            </a:avLst>
          </a:prstGeom>
          <a:solidFill>
            <a:srgbClr val="1E2330"/>
          </a:solidFill>
          <a:ln w="12700">
            <a:solidFill>
              <a:srgbClr val="E8C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8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(mid-flip)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08960" y="43251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90°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560320" y="4828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Halfway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flash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38912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54880" y="13716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61B28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1554480"/>
            <a:ext cx="1280160" cy="2194560"/>
          </a:xfrm>
          <a:prstGeom prst="roundRect">
            <a:avLst>
              <a:gd name="adj" fmla="val 8571"/>
            </a:avLst>
          </a:prstGeom>
          <a:solidFill>
            <a:srgbClr val="0A0D14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1664208"/>
            <a:ext cx="457200" cy="457200"/>
          </a:xfrm>
          <a:prstGeom prst="ellipse">
            <a:avLst/>
          </a:prstGeom>
          <a:solidFill>
            <a:srgbClr val="1E2330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2084832"/>
            <a:ext cx="640080" cy="914400"/>
          </a:xfrm>
          <a:prstGeom prst="roundRect">
            <a:avLst>
              <a:gd name="adj" fmla="val 11429"/>
            </a:avLst>
          </a:prstGeom>
          <a:solidFill>
            <a:srgbClr val="1E2330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13248" y="21214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38C49A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21214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38C49A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3248" y="3017520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38C49A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42432" y="3017520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38C49A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VIEW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8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(complete)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03520" y="43251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180°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754880" y="4828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muscles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visible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58368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949440" y="137160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61B2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69480" y="1554480"/>
            <a:ext cx="1280160" cy="2194560"/>
          </a:xfrm>
          <a:prstGeom prst="roundRect">
            <a:avLst>
              <a:gd name="adj" fmla="val 8571"/>
            </a:avLst>
          </a:prstGeom>
          <a:solidFill>
            <a:srgbClr val="0A0D14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1664208"/>
            <a:ext cx="457200" cy="457200"/>
          </a:xfrm>
          <a:prstGeom prst="ellipse">
            <a:avLst/>
          </a:prstGeom>
          <a:solidFill>
            <a:srgbClr val="1E2330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2084832"/>
            <a:ext cx="640080" cy="914400"/>
          </a:xfrm>
          <a:prstGeom prst="roundRect">
            <a:avLst>
              <a:gd name="adj" fmla="val 11429"/>
            </a:avLst>
          </a:prstGeom>
          <a:solidFill>
            <a:srgbClr val="1E2330"/>
          </a:solidFill>
          <a:ln w="5080">
            <a:solidFill>
              <a:srgbClr val="2A30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07808" y="21214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A07AE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55280" y="21214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A07AE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07808" y="3017520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A07AE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36992" y="3017520"/>
            <a:ext cx="274320" cy="502920"/>
          </a:xfrm>
          <a:prstGeom prst="roundRect">
            <a:avLst>
              <a:gd name="adj" fmla="val 20000"/>
            </a:avLst>
          </a:prstGeom>
          <a:solidFill>
            <a:srgbClr val="A07AE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7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A07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(flip back)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0" y="43251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949440" y="4828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again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return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65760" y="46634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 600ms  ·  Easing: cubic-bezier(0.4, 0, 0.2, 1)  ·  Trigger: tap avatar or ↺ button  ·  Thread: UI (Reanimated worklet)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Suggestions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after user taps a muscle group on the avatar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926080" cy="3657600"/>
          </a:xfrm>
          <a:prstGeom prst="roundRect">
            <a:avLst>
              <a:gd name="adj" fmla="val 3125"/>
            </a:avLst>
          </a:prstGeom>
          <a:solidFill>
            <a:srgbClr val="161B28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926080" cy="457200"/>
          </a:xfrm>
          <a:prstGeom prst="rect">
            <a:avLst/>
          </a:prstGeom>
          <a:solidFill>
            <a:srgbClr val="111520"/>
          </a:solidFill>
          <a:ln w="12700">
            <a:solidFill>
              <a:srgbClr val="11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075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719072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61B28"/>
          </a:solidFill>
          <a:ln w="12700">
            <a:solidFill>
              <a:srgbClr val="52C0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10512"/>
            <a:ext cx="128016" cy="128016"/>
          </a:xfrm>
          <a:prstGeom prst="ellipse">
            <a:avLst/>
          </a:prstGeom>
          <a:solidFill>
            <a:srgbClr val="52C07A"/>
          </a:solidFill>
          <a:ln w="12700">
            <a:solidFill>
              <a:srgbClr val="52C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7556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C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Quadriceps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19202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exercises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" y="2267712"/>
            <a:ext cx="2743200" cy="347472"/>
          </a:xfrm>
          <a:prstGeom prst="roundRect">
            <a:avLst>
              <a:gd name="adj" fmla="val 18421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4086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🏋️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23225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Squat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68680" y="246888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Barbell · Intermediate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697480" y="2441448"/>
            <a:ext cx="27432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35915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670048"/>
            <a:ext cx="2743200" cy="347472"/>
          </a:xfrm>
          <a:prstGeom prst="roundRect">
            <a:avLst>
              <a:gd name="adj" fmla="val 18421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43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27249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 Press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2871216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Barbell · Intermediate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697480" y="2843784"/>
            <a:ext cx="27432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27614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072384"/>
            <a:ext cx="2743200" cy="347472"/>
          </a:xfrm>
          <a:prstGeom prst="roundRect">
            <a:avLst>
              <a:gd name="adj" fmla="val 18421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14553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31272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 Extension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327355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Barbell · Intermediate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697480" y="3246120"/>
            <a:ext cx="27432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316382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3474720"/>
            <a:ext cx="2743200" cy="347472"/>
          </a:xfrm>
          <a:prstGeom prst="roundRect">
            <a:avLst>
              <a:gd name="adj" fmla="val 18421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54787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" y="35295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Squat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68680" y="367588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Barbell · Intermediate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697480" y="3648456"/>
            <a:ext cx="27432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0" y="3566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3877056"/>
            <a:ext cx="2743200" cy="347472"/>
          </a:xfrm>
          <a:prstGeom prst="roundRect">
            <a:avLst>
              <a:gd name="adj" fmla="val 18421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9502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Squat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68680" y="407822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Barbell · Intermediate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697480" y="4050792"/>
            <a:ext cx="274320" cy="0"/>
          </a:xfrm>
          <a:prstGeom prst="line">
            <a:avLst/>
          </a:prstGeom>
          <a:noFill/>
          <a:ln w="6350">
            <a:solidFill>
              <a:srgbClr val="1A20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0" y="39684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520440" y="1554480"/>
            <a:ext cx="109728" cy="0"/>
          </a:xfrm>
          <a:prstGeom prst="line">
            <a:avLst/>
          </a:prstGeom>
          <a:noFill/>
          <a:ln w="25400">
            <a:solidFill>
              <a:srgbClr val="4A9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button returns 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Map screen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520440" y="2011680"/>
            <a:ext cx="109728" cy="0"/>
          </a:xfrm>
          <a:prstGeom prst="line">
            <a:avLst/>
          </a:prstGeom>
          <a:noFill/>
          <a:ln w="25400">
            <a:solidFill>
              <a:srgbClr val="52C0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muscle chip — color matches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avatar muscle color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520440" y="2560320"/>
            <a:ext cx="109728" cy="0"/>
          </a:xfrm>
          <a:prstGeom prst="line">
            <a:avLst/>
          </a:prstGeom>
          <a:noFill/>
          <a:ln w="25400">
            <a:solidFill>
              <a:srgbClr val="38C4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cards: name,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equipment, difficulty level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520440" y="3291840"/>
            <a:ext cx="109728" cy="0"/>
          </a:xfrm>
          <a:prstGeom prst="line">
            <a:avLst/>
          </a:prstGeom>
          <a:noFill/>
          <a:ln w="25400">
            <a:solidFill>
              <a:srgbClr val="E8C0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Chevron › hints at drill-down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(exercise detail in v2.0)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520440" y="3931920"/>
            <a:ext cx="109728" cy="0"/>
          </a:xfrm>
          <a:prstGeom prst="line">
            <a:avLst/>
          </a:prstGeom>
          <a:noFill/>
          <a:ln w="25400">
            <a:solidFill>
              <a:srgbClr val="A07A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3840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to Plan" button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visible in v1.0, functional v2.0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Plans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/ Pull / Legs — the classic training split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926080" cy="3657600"/>
          </a:xfrm>
          <a:prstGeom prst="roundRect">
            <a:avLst>
              <a:gd name="adj" fmla="val 3125"/>
            </a:avLst>
          </a:prstGeom>
          <a:solidFill>
            <a:srgbClr val="161B28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926080" cy="457200"/>
          </a:xfrm>
          <a:prstGeom prst="rect">
            <a:avLst/>
          </a:prstGeom>
          <a:solidFill>
            <a:srgbClr val="111520"/>
          </a:solidFill>
          <a:ln w="12700">
            <a:solidFill>
              <a:srgbClr val="11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3075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Plans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161B28"/>
          </a:solidFill>
          <a:ln w="15240">
            <a:solidFill>
              <a:srgbClr val="E05C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37360"/>
            <a:ext cx="73152" cy="96012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7922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Day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199339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0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 · Shoulders · Triceps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658368" y="217627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Press  ·  OHP  ·  Lateral Raise  ...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58368" y="237744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3774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→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2920" y="278892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161B28"/>
          </a:solidFill>
          <a:ln w="15240">
            <a:solidFill>
              <a:srgbClr val="4A9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788920"/>
            <a:ext cx="73152" cy="960120"/>
          </a:xfrm>
          <a:prstGeom prst="rect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8437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Day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304495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· Biceps · Traps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58368" y="32278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Pull-Up  ·  Barbell Row  ·  Lat Pulldown  ...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58368" y="342900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4290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→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02920" y="384048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161B28"/>
          </a:solidFill>
          <a:ln w="15240">
            <a:solidFill>
              <a:srgbClr val="52C0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840480"/>
            <a:ext cx="73152" cy="960120"/>
          </a:xfrm>
          <a:prstGeom prst="rect">
            <a:avLst/>
          </a:prstGeom>
          <a:solidFill>
            <a:srgbClr val="52C07A"/>
          </a:solidFill>
          <a:ln w="12700">
            <a:solidFill>
              <a:srgbClr val="52C0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8953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 Day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" y="40965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2C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Quads · Hamstrings · Glutes · Calves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58368" y="427939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Squat  ·  Romanian DL  ·  Leg Press  ...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658368" y="4480560"/>
            <a:ext cx="1097280" cy="237744"/>
          </a:xfrm>
          <a:prstGeom prst="roundRect">
            <a:avLst>
              <a:gd name="adj" fmla="val 23077"/>
            </a:avLst>
          </a:prstGeom>
          <a:solidFill>
            <a:srgbClr val="52C07A"/>
          </a:solidFill>
          <a:ln w="12700">
            <a:solidFill>
              <a:srgbClr val="52C0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4805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→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520440" y="1828800"/>
            <a:ext cx="109728" cy="0"/>
          </a:xfrm>
          <a:prstGeom prst="line">
            <a:avLst/>
          </a:prstGeom>
          <a:noFill/>
          <a:ln w="25400">
            <a:solidFill>
              <a:srgbClr val="E05C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Day card — red accent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Chest, Shoulders, Triceps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20440" y="2743200"/>
            <a:ext cx="109728" cy="0"/>
          </a:xfrm>
          <a:prstGeom prst="line">
            <a:avLst/>
          </a:prstGeom>
          <a:noFill/>
          <a:ln w="25400">
            <a:solidFill>
              <a:srgbClr val="4A9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2651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Day card — blue accent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Back, Biceps, Traps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520440" y="3566160"/>
            <a:ext cx="109728" cy="0"/>
          </a:xfrm>
          <a:prstGeom prst="line">
            <a:avLst/>
          </a:prstGeom>
          <a:noFill/>
          <a:ln w="25400">
            <a:solidFill>
              <a:srgbClr val="52C0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3474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 Day card — green accent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Quads, Hamstrings, Glutes, Calves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520440" y="4297680"/>
            <a:ext cx="109728" cy="0"/>
          </a:xfrm>
          <a:prstGeom prst="line">
            <a:avLst/>
          </a:prstGeom>
          <a:noFill/>
          <a:ln w="25400">
            <a:solidFill>
              <a:srgbClr val="38C4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button → opens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exercise list for that day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&amp; App Icon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GymTrack by Rubyx — mark specification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2011680" cy="2011680"/>
          </a:xfrm>
          <a:prstGeom prst="hexagon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0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3611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GymTrack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40965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RUBYX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13716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SIZES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931920" y="1664208"/>
            <a:ext cx="1005840" cy="1005840"/>
          </a:xfrm>
          <a:prstGeom prst="hexagon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71576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1024×1024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840480" y="287121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5166360" y="1664208"/>
            <a:ext cx="685800" cy="685800"/>
          </a:xfrm>
          <a:prstGeom prst="hexagon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39572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512×512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074920" y="255117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Store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6400800" y="1664208"/>
            <a:ext cx="502920" cy="502920"/>
          </a:xfrm>
          <a:prstGeom prst="hexagon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2128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192×192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309360" y="236829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7635240" y="1664208"/>
            <a:ext cx="365760" cy="365760"/>
          </a:xfrm>
          <a:prstGeom prst="hexagon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207568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72×72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7543800" y="223113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931920" y="301752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RULES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931920" y="3310128"/>
            <a:ext cx="109728" cy="109728"/>
          </a:xfrm>
          <a:prstGeom prst="ellipse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32735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Brand Blue #4A9EE8 on dark background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931920" y="3657600"/>
            <a:ext cx="109728" cy="109728"/>
          </a:xfrm>
          <a:prstGeom prst="ellipse">
            <a:avLst/>
          </a:prstGeom>
          <a:solidFill>
            <a:srgbClr val="E8EAF0"/>
          </a:solidFill>
          <a:ln w="12700">
            <a:solidFill>
              <a:srgbClr val="E8EA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362102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 logo on light backgrounds in v1.0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31920" y="4005072"/>
            <a:ext cx="109728" cy="109728"/>
          </a:xfrm>
          <a:prstGeom prst="ellipse">
            <a:avLst/>
          </a:prstGeom>
          <a:solidFill>
            <a:srgbClr val="52C07A"/>
          </a:solidFill>
          <a:ln w="12700">
            <a:solidFill>
              <a:srgbClr val="52C0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9684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version allowed for splash screen only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931920" y="4352544"/>
            <a:ext cx="109728" cy="109728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43159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stretch, recolor, or add effects to the hex icon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 PHASE 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&amp; Development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your sign-off before we write a single line of code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REVIEW CHECKLIST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68249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61B2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642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 screen look &amp; feel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168249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61B28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6642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Dashboard card layout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06654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61B2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482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Map avatar appearance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206654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61B28"/>
          </a:solidFill>
          <a:ln w="12700">
            <a:solidFill>
              <a:srgbClr val="E8C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482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toggle placement (top-right)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4505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61B2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323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button placement (top-left)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24505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61B28"/>
          </a:solidFill>
          <a:ln w="12700">
            <a:solidFill>
              <a:srgbClr val="52C0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4323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suggestion card design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61B28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8163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plan card layout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89120" y="2834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61B28"/>
          </a:solidFill>
          <a:ln w="12700">
            <a:solidFill>
              <a:srgbClr val="887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8163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/ brand mark approval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2186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61B28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004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 sign-off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89120" y="32186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61B28"/>
          </a:solidFill>
          <a:ln w="12700">
            <a:solidFill>
              <a:srgbClr val="4A55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2004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flow agreement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2976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2C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YOUR APPROVAL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45720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61B28"/>
          </a:solidFill>
          <a:ln w="10160">
            <a:solidFill>
              <a:srgbClr val="4A9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59028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11480" y="4736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Expo project · com.rubyx.gymtrack · EAS setup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514600" y="45720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61B28"/>
          </a:solidFill>
          <a:ln w="10160">
            <a:solidFill>
              <a:srgbClr val="38C4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459028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560320" y="4736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Splash → Home → Body Map → Exercises → Plans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663440" y="45720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61B28"/>
          </a:solidFill>
          <a:ln w="10160">
            <a:solidFill>
              <a:srgbClr val="E8C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59028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09160" y="4736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testing on iOS &amp; Android emulators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812280" y="45720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61B28"/>
          </a:solidFill>
          <a:ln w="10160">
            <a:solidFill>
              <a:srgbClr val="52C0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459028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2C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58000" y="4736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 Build + App Store / Play Store submission prep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GymTrack — UI/UX Design Document</dc:title>
  <dc:subject>PptxGenJS Presentation</dc:subject>
  <dc:creator>Rubyx</dc:creator>
  <cp:lastModifiedBy>Rubyx</cp:lastModifiedBy>
  <cp:revision>1</cp:revision>
  <dcterms:created xsi:type="dcterms:W3CDTF">2026-06-21T15:50:36Z</dcterms:created>
  <dcterms:modified xsi:type="dcterms:W3CDTF">2026-06-21T15:50:36Z</dcterms:modified>
</cp:coreProperties>
</file>